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8C28"/>
                </a:solidFill>
                <a:latin typeface="Aptos"/>
              </a:defRPr>
            </a:pPr>
            <a:r>
              <a:t>FASTMOVE  / 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Tự động tra cước giúp kho xử lý đơn nhanh và nhất quán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0EBF4"/>
                </a:solidFill>
                <a:latin typeface="Aptos"/>
              </a:defRPr>
            </a:pPr>
            <a:r>
              <a:t>Quy trình nhận đơn dành cho shipper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37560"/>
            <a:ext cx="256032" cy="256032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331012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Đối chiếu mã vận đơn và số kiện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04487"/>
            <a:ext cx="256032" cy="256032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3877055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Kiểm tra tuyến, dịch vụ và giá cước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71416"/>
            <a:ext cx="256032" cy="256032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4443983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Xác nhận tình trạng hàng trước khi nhận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38344"/>
            <a:ext cx="256032" cy="256032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5010912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Quét mã và xác nhận bàn giao trên hệ thống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286000"/>
            <a:ext cx="2148840" cy="2423160"/>
          </a:xfrm>
          <a:prstGeom prst="roundRect">
            <a:avLst/>
          </a:prstGeom>
          <a:solidFill>
            <a:srgbClr val="2878A5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6060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28C2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48" y="3429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BƯỚC</a:t>
            </a: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NHẬN ĐƠN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BED0"/>
                </a:solidFill>
                <a:latin typeface="Aptos"/>
              </a:defRPr>
            </a:pPr>
            <a:r>
              <a:t>01  /  QUY TRÌNH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Đơn chờ xử lý là điểm nghẽn cần ưu tiên giảm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0EBF4"/>
                </a:solidFill>
                <a:latin typeface="Aptos"/>
              </a:defRPr>
            </a:pPr>
            <a:r>
              <a:t>Minh họa KPI trên 500 đơn mẫu — thay bằng số liệu vận hành thực tế trước khi báo cáo.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Đã giao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74519"/>
            <a:ext cx="5820156" cy="384048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8280" y="185623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91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Đang giao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679191"/>
            <a:ext cx="3829050" cy="384048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2660903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8386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Chờ xử lý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483863"/>
            <a:ext cx="3216402" cy="384048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3465575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28C28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88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Mới tạo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4288536"/>
            <a:ext cx="2450592" cy="384048"/>
          </a:xfrm>
          <a:prstGeom prst="rect">
            <a:avLst/>
          </a:prstGeom>
          <a:solidFill>
            <a:srgbClr val="2878A5"/>
          </a:solidFill>
          <a:ln>
            <a:solidFill>
              <a:srgbClr val="287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42702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40680"/>
            <a:ext cx="10789920" cy="658368"/>
          </a:xfrm>
          <a:prstGeom prst="roundRect">
            <a:avLst/>
          </a:prstGeom>
          <a:solidFill>
            <a:srgbClr val="2878A5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Ưu tiên: xử lý đơn tồn trước, sau đó tối ưu thời gian nhận và bàn giao.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BED0"/>
                </a:solidFill>
                <a:latin typeface="Aptos"/>
              </a:defRPr>
            </a:pPr>
            <a:r>
              <a:t>02  /  KPI VẬN HÀNH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Chuẩn hóa dữ liệu giúp giảm sai cước và thời gian tra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37560" cy="1828800"/>
          </a:xfrm>
          <a:prstGeom prst="roundRect">
            <a:avLst/>
          </a:prstGeom>
          <a:solidFill>
            <a:srgbClr val="2878A5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488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28C28"/>
                </a:solidFill>
                <a:latin typeface="Aptos"/>
              </a:defRPr>
            </a:pPr>
            <a:r>
              <a:t>VLOOKUP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Tự động lấy giá theo khóa tra cứu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828800"/>
            <a:ext cx="3337560" cy="1828800"/>
          </a:xfrm>
          <a:prstGeom prst="roundRect">
            <a:avLst/>
          </a:prstGeom>
          <a:solidFill>
            <a:srgbClr val="2878A5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1488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28C28"/>
                </a:solidFill>
                <a:latin typeface="Aptos"/>
              </a:defRPr>
            </a:pPr>
            <a:r>
              <a:t>IFERROR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74320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Hiển thị thông báo dễ hiểu khi thiếu mã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28800"/>
            <a:ext cx="3337560" cy="1828800"/>
          </a:xfrm>
          <a:prstGeom prst="roundRect">
            <a:avLst/>
          </a:prstGeom>
          <a:solidFill>
            <a:srgbClr val="2878A5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14884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28C28"/>
                </a:solidFill>
                <a:latin typeface="Aptos"/>
              </a:defRPr>
            </a:pPr>
            <a:r>
              <a:t>Bảng chuẩn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74320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Một dòng một bản ghi, không gộp 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EBF4"/>
                </a:solidFill>
                <a:latin typeface="Aptos"/>
              </a:defRPr>
            </a:pPr>
            <a:r>
              <a:t>Mục tiêu đề xuất: đo thời gian xử lý trước/sau tự động hóa để xác nhận mức tiết kiệm.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ABED0"/>
                </a:solidFill>
                <a:latin typeface="Aptos"/>
              </a:defRPr>
            </a:pPr>
            <a:r>
              <a:t>03  /  GIẢI PHÁP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